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265" r:id="rId3"/>
    <p:sldId id="276" r:id="rId4"/>
    <p:sldId id="277" r:id="rId5"/>
    <p:sldId id="278" r:id="rId6"/>
    <p:sldId id="267" r:id="rId7"/>
    <p:sldId id="283" r:id="rId8"/>
    <p:sldId id="279" r:id="rId9"/>
    <p:sldId id="284" r:id="rId10"/>
    <p:sldId id="285" r:id="rId11"/>
    <p:sldId id="280" r:id="rId12"/>
    <p:sldId id="274" r:id="rId13"/>
    <p:sldId id="270" r:id="rId14"/>
    <p:sldId id="28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36" autoAdjust="0"/>
    <p:restoredTop sz="94660"/>
  </p:normalViewPr>
  <p:slideViewPr>
    <p:cSldViewPr>
      <p:cViewPr varScale="1">
        <p:scale>
          <a:sx n="72" d="100"/>
          <a:sy n="72" d="100"/>
        </p:scale>
        <p:origin x="60" y="402"/>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2B48F5-BACC-47D6-A0F7-82FBF9C6BC85}" type="datetimeFigureOut">
              <a:rPr lang="en-US"/>
              <a:t>5/7/2023</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ACAF8E-318A-4EFE-8633-D9E72ABCE0ED}" type="slidenum">
              <a:rPr/>
              <a:t>‹#›</a:t>
            </a:fld>
            <a:endParaRPr/>
          </a:p>
        </p:txBody>
      </p:sp>
    </p:spTree>
    <p:extLst>
      <p:ext uri="{BB962C8B-B14F-4D97-AF65-F5344CB8AC3E}">
        <p14:creationId xmlns:p14="http://schemas.microsoft.com/office/powerpoint/2010/main" val="240655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1CD00-5424-4675-AB18-2C419B060449}" type="datetimeFigureOut">
              <a:rPr lang="en-US"/>
              <a:t>5/7/2023</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2CF44-2B13-41B4-A334-1CDF534EEBBF}" type="slidenum">
              <a:rPr/>
              <a:t>‹#›</a:t>
            </a:fld>
            <a:endParaRPr/>
          </a:p>
        </p:txBody>
      </p:sp>
    </p:spTree>
    <p:extLst>
      <p:ext uri="{BB962C8B-B14F-4D97-AF65-F5344CB8AC3E}">
        <p14:creationId xmlns:p14="http://schemas.microsoft.com/office/powerpoint/2010/main" val="44538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bwMode="white">
          <a:xfrm>
            <a:off x="1066800" y="3165763"/>
            <a:ext cx="10058400" cy="1711037"/>
          </a:xfrm>
        </p:spPr>
        <p:txBody>
          <a:bodyPr anchor="b">
            <a:norm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bwMode="white">
          <a:xfrm>
            <a:off x="1066800" y="4953000"/>
            <a:ext cx="10058400" cy="685800"/>
          </a:xfrm>
        </p:spPr>
        <p:txBody>
          <a:bodyPr>
            <a:normAutofit/>
          </a:bodyPr>
          <a:lstStyle>
            <a:lvl1pPr marL="0" indent="0" algn="l">
              <a:spcBef>
                <a:spcPts val="0"/>
              </a:spcBef>
              <a:buNone/>
              <a:defRPr sz="200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798862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t>5/7/2023</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828800"/>
            <a:ext cx="9144000" cy="2743200"/>
          </a:xfrm>
        </p:spPr>
        <p:txBody>
          <a:bodyPr anchor="b">
            <a:normAutofit/>
          </a:bodyPr>
          <a:lstStyle>
            <a:lvl1pPr>
              <a:defRPr sz="540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1524000" y="4589463"/>
            <a:ext cx="9144000" cy="1506537"/>
          </a:xfrm>
        </p:spPr>
        <p:txBody>
          <a:bodyPr>
            <a:normAutofit/>
          </a:bodyPr>
          <a:lstStyle>
            <a:lvl1pPr marL="0" indent="0">
              <a:spcBef>
                <a:spcPts val="0"/>
              </a:spcBef>
              <a:buNone/>
              <a:defRPr sz="2000">
                <a:solidFill>
                  <a:schemeClr val="accent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5/7/2023</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5270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70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76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76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37CC0096-1860-4642-9CD2-0079EA5E7CD1}" type="datetimeFigureOut">
              <a:rPr lang="en-US" smtClean="0"/>
              <a:t>5/7/2023</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37CC0096-1860-4642-9CD2-0079EA5E7CD1}" type="datetimeFigureOut">
              <a:rPr lang="en-US" smtClean="0"/>
              <a:t>5/7/2023</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37CC0096-1860-4642-9CD2-0079EA5E7CD1}" type="datetimeFigureOut">
              <a:rPr lang="en-US" smtClean="0"/>
              <a:t>5/7/2023</a:t>
            </a:fld>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146817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2587" y="1600200"/>
            <a:ext cx="3122613" cy="1828800"/>
          </a:xfrm>
        </p:spPr>
        <p:txBody>
          <a:bodyPr anchor="b">
            <a:normAutofit/>
          </a:bodyPr>
          <a:lstStyle>
            <a:lvl1pPr>
              <a:defRPr sz="3400"/>
            </a:lvl1pPr>
          </a:lstStyle>
          <a:p>
            <a:r>
              <a:rPr lang="en-US"/>
              <a:t>Click to edit Master title style</a:t>
            </a:r>
            <a:endParaRPr lang="en-US" dirty="0"/>
          </a:p>
        </p:txBody>
      </p:sp>
      <p:sp>
        <p:nvSpPr>
          <p:cNvPr id="3" name="Content Placeholder 2"/>
          <p:cNvSpPr>
            <a:spLocks noGrp="1"/>
          </p:cNvSpPr>
          <p:nvPr>
            <p:ph idx="1"/>
          </p:nvPr>
        </p:nvSpPr>
        <p:spPr>
          <a:xfrm>
            <a:off x="760412" y="762000"/>
            <a:ext cx="6400800"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001039" y="3429000"/>
            <a:ext cx="3124161"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5/7/2023</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67374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97952" y="1600200"/>
            <a:ext cx="3127248" cy="1828800"/>
          </a:xfrm>
        </p:spPr>
        <p:txBody>
          <a:bodyPr anchor="b">
            <a:normAutofit/>
          </a:bodyPr>
          <a:lstStyle>
            <a:lvl1pPr>
              <a:defRPr sz="3400"/>
            </a:lvl1pPr>
          </a:lstStyle>
          <a:p>
            <a:r>
              <a:rPr lang="en-US"/>
              <a:t>Click to edit Master title style</a:t>
            </a:r>
          </a:p>
        </p:txBody>
      </p:sp>
      <p:sp>
        <p:nvSpPr>
          <p:cNvPr id="3" name="Picture Placeholder 2"/>
          <p:cNvSpPr>
            <a:spLocks noGrp="1"/>
          </p:cNvSpPr>
          <p:nvPr>
            <p:ph type="pic" idx="1"/>
          </p:nvPr>
        </p:nvSpPr>
        <p:spPr>
          <a:xfrm>
            <a:off x="781251" y="777240"/>
            <a:ext cx="6400800" cy="530352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97952" y="3429000"/>
            <a:ext cx="3127248"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Rectangle 7" descr="An empty placeholder to add an image. Click on the placeholder and select the image that you wish to add."/>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5/7/2023</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97724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5/7/2023</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57199"/>
            <a:ext cx="1943100" cy="56388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0" y="457199"/>
            <a:ext cx="7048500" cy="56388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5/7/2023</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0" y="457200"/>
            <a:ext cx="9144000" cy="11430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4000" y="18288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4000" y="6362700"/>
            <a:ext cx="6881553" cy="257176"/>
          </a:xfrm>
          <a:prstGeom prst="rect">
            <a:avLst/>
          </a:prstGeom>
        </p:spPr>
        <p:txBody>
          <a:bodyPr vert="horz" lIns="91440" tIns="45720" rIns="91440" bIns="45720" rtlCol="0" anchor="ctr"/>
          <a:lstStyle>
            <a:lvl1pPr algn="l">
              <a:defRPr sz="1100">
                <a:solidFill>
                  <a:schemeClr val="tx1">
                    <a:lumMod val="85000"/>
                  </a:schemeClr>
                </a:solidFill>
              </a:defRPr>
            </a:lvl1pPr>
          </a:lstStyle>
          <a:p>
            <a:endParaRPr lang="en-US" dirty="0"/>
          </a:p>
        </p:txBody>
      </p:sp>
      <p:sp>
        <p:nvSpPr>
          <p:cNvPr id="4" name="Date Placeholder 3"/>
          <p:cNvSpPr>
            <a:spLocks noGrp="1"/>
          </p:cNvSpPr>
          <p:nvPr>
            <p:ph type="dt" sz="half" idx="2"/>
          </p:nvPr>
        </p:nvSpPr>
        <p:spPr>
          <a:xfrm>
            <a:off x="8610600" y="6362700"/>
            <a:ext cx="9906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37CC0096-1860-4642-9CD2-0079EA5E7CD1}" type="datetimeFigureOut">
              <a:rPr lang="en-US" smtClean="0"/>
              <a:pPr/>
              <a:t>5/7/2023</a:t>
            </a:fld>
            <a:endParaRPr lang="en-US"/>
          </a:p>
        </p:txBody>
      </p:sp>
      <p:sp>
        <p:nvSpPr>
          <p:cNvPr id="6" name="Slide Number Placeholder 5"/>
          <p:cNvSpPr>
            <a:spLocks noGrp="1"/>
          </p:cNvSpPr>
          <p:nvPr>
            <p:ph type="sldNum" sz="quarter" idx="4"/>
          </p:nvPr>
        </p:nvSpPr>
        <p:spPr>
          <a:xfrm>
            <a:off x="9829800" y="6362700"/>
            <a:ext cx="8382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INF428 Final Project</a:t>
            </a:r>
            <a:endParaRPr dirty="0"/>
          </a:p>
        </p:txBody>
      </p:sp>
      <p:sp>
        <p:nvSpPr>
          <p:cNvPr id="3" name="Subtitle 2"/>
          <p:cNvSpPr>
            <a:spLocks noGrp="1"/>
          </p:cNvSpPr>
          <p:nvPr>
            <p:ph type="subTitle" idx="1"/>
          </p:nvPr>
        </p:nvSpPr>
        <p:spPr/>
        <p:txBody>
          <a:bodyPr/>
          <a:lstStyle/>
          <a:p>
            <a:r>
              <a:rPr lang="en-US" dirty="0"/>
              <a:t>Catherine Remy Duffield</a:t>
            </a:r>
          </a:p>
          <a:p>
            <a:r>
              <a:rPr lang="en-US" dirty="0"/>
              <a:t>001529006</a:t>
            </a:r>
            <a:endParaRPr dirty="0"/>
          </a:p>
        </p:txBody>
      </p:sp>
    </p:spTree>
    <p:extLst>
      <p:ext uri="{BB962C8B-B14F-4D97-AF65-F5344CB8AC3E}">
        <p14:creationId xmlns:p14="http://schemas.microsoft.com/office/powerpoint/2010/main" val="242453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Service Payment Call Predictor</a:t>
            </a:r>
            <a:endParaRPr dirty="0"/>
          </a:p>
        </p:txBody>
      </p:sp>
      <p:sp>
        <p:nvSpPr>
          <p:cNvPr id="14" name="Content Placeholder 13"/>
          <p:cNvSpPr>
            <a:spLocks noGrp="1"/>
          </p:cNvSpPr>
          <p:nvPr>
            <p:ph idx="1"/>
          </p:nvPr>
        </p:nvSpPr>
        <p:spPr/>
        <p:txBody>
          <a:bodyPr/>
          <a:lstStyle/>
          <a:p>
            <a:r>
              <a:rPr lang="en-US" dirty="0"/>
              <a:t>Assignment Information</a:t>
            </a:r>
            <a:endParaRPr dirty="0"/>
          </a:p>
          <a:p>
            <a:r>
              <a:rPr lang="en-US" dirty="0"/>
              <a:t>Cleaning up Data</a:t>
            </a:r>
            <a:endParaRPr dirty="0"/>
          </a:p>
          <a:p>
            <a:r>
              <a:rPr lang="en-US" dirty="0"/>
              <a:t>Lessons Taught</a:t>
            </a:r>
          </a:p>
          <a:p>
            <a:r>
              <a:rPr lang="en-US" dirty="0"/>
              <a:t>Model Aptitude</a:t>
            </a:r>
          </a:p>
          <a:p>
            <a:r>
              <a:rPr lang="en-US" dirty="0"/>
              <a:t>Review</a:t>
            </a:r>
          </a:p>
          <a:p>
            <a:endParaRPr dirty="0"/>
          </a:p>
        </p:txBody>
      </p:sp>
    </p:spTree>
    <p:extLst>
      <p:ext uri="{BB962C8B-B14F-4D97-AF65-F5344CB8AC3E}">
        <p14:creationId xmlns:p14="http://schemas.microsoft.com/office/powerpoint/2010/main" val="3042826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0E49F-97AF-90A9-7B9F-53C3912E514A}"/>
              </a:ext>
            </a:extLst>
          </p:cNvPr>
          <p:cNvSpPr>
            <a:spLocks noGrp="1"/>
          </p:cNvSpPr>
          <p:nvPr>
            <p:ph type="title"/>
          </p:nvPr>
        </p:nvSpPr>
        <p:spPr/>
        <p:txBody>
          <a:bodyPr/>
          <a:lstStyle/>
          <a:p>
            <a:r>
              <a:rPr lang="en-US" dirty="0"/>
              <a:t>The Assignment</a:t>
            </a:r>
          </a:p>
        </p:txBody>
      </p:sp>
      <p:sp>
        <p:nvSpPr>
          <p:cNvPr id="3" name="Text Placeholder 2">
            <a:extLst>
              <a:ext uri="{FF2B5EF4-FFF2-40B4-BE49-F238E27FC236}">
                <a16:creationId xmlns:a16="http://schemas.microsoft.com/office/drawing/2014/main" id="{D99CDA53-D370-F3D3-3B18-1BB86B4F8661}"/>
              </a:ext>
            </a:extLst>
          </p:cNvPr>
          <p:cNvSpPr>
            <a:spLocks noGrp="1"/>
          </p:cNvSpPr>
          <p:nvPr>
            <p:ph type="body" idx="1"/>
          </p:nvPr>
        </p:nvSpPr>
        <p:spPr/>
        <p:txBody>
          <a:bodyPr/>
          <a:lstStyle/>
          <a:p>
            <a:r>
              <a:rPr lang="en-US" dirty="0"/>
              <a:t>Background and information of the project</a:t>
            </a:r>
          </a:p>
        </p:txBody>
      </p:sp>
    </p:spTree>
    <p:extLst>
      <p:ext uri="{BB962C8B-B14F-4D97-AF65-F5344CB8AC3E}">
        <p14:creationId xmlns:p14="http://schemas.microsoft.com/office/powerpoint/2010/main" val="1892941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51495-D487-B590-7B92-31858D53F8A8}"/>
              </a:ext>
            </a:extLst>
          </p:cNvPr>
          <p:cNvSpPr>
            <a:spLocks noGrp="1"/>
          </p:cNvSpPr>
          <p:nvPr>
            <p:ph type="title"/>
          </p:nvPr>
        </p:nvSpPr>
        <p:spPr/>
        <p:txBody>
          <a:bodyPr/>
          <a:lstStyle/>
          <a:p>
            <a:r>
              <a:rPr lang="en-US" dirty="0"/>
              <a:t>Project Call Predictor</a:t>
            </a:r>
          </a:p>
        </p:txBody>
      </p:sp>
      <p:sp>
        <p:nvSpPr>
          <p:cNvPr id="3" name="Content Placeholder 2">
            <a:extLst>
              <a:ext uri="{FF2B5EF4-FFF2-40B4-BE49-F238E27FC236}">
                <a16:creationId xmlns:a16="http://schemas.microsoft.com/office/drawing/2014/main" id="{DEA7361B-FF49-7A22-7B15-2710F144799F}"/>
              </a:ext>
            </a:extLst>
          </p:cNvPr>
          <p:cNvSpPr>
            <a:spLocks noGrp="1"/>
          </p:cNvSpPr>
          <p:nvPr>
            <p:ph idx="1"/>
          </p:nvPr>
        </p:nvSpPr>
        <p:spPr/>
        <p:txBody>
          <a:bodyPr anchor="ctr">
            <a:normAutofit/>
          </a:bodyPr>
          <a:lstStyle/>
          <a:p>
            <a:pPr marL="0" indent="0">
              <a:lnSpc>
                <a:spcPct val="150000"/>
              </a:lnSpc>
              <a:buNone/>
            </a:pPr>
            <a:r>
              <a:rPr lang="en-US" dirty="0"/>
              <a:t>This project aimed to create a Python model to predict the likelihood of policyholders with payments due to an insurance company making a service payment call. Identifying these policyholders will determine the best targets to send emails encouraging the use of automated payment channels instead. Data on customers with payment due in the next five days was provided. The primary tool to achieve the insurance company's endeavor was Python. </a:t>
            </a:r>
          </a:p>
        </p:txBody>
      </p:sp>
    </p:spTree>
    <p:extLst>
      <p:ext uri="{BB962C8B-B14F-4D97-AF65-F5344CB8AC3E}">
        <p14:creationId xmlns:p14="http://schemas.microsoft.com/office/powerpoint/2010/main" val="193816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2BB71-6A81-C604-C76B-B6FE17A85804}"/>
              </a:ext>
            </a:extLst>
          </p:cNvPr>
          <p:cNvSpPr>
            <a:spLocks noGrp="1"/>
          </p:cNvSpPr>
          <p:nvPr>
            <p:ph type="title"/>
          </p:nvPr>
        </p:nvSpPr>
        <p:spPr/>
        <p:txBody>
          <a:bodyPr/>
          <a:lstStyle/>
          <a:p>
            <a:r>
              <a:rPr lang="en-US" dirty="0"/>
              <a:t>Data Cleaning</a:t>
            </a:r>
          </a:p>
        </p:txBody>
      </p:sp>
      <p:sp>
        <p:nvSpPr>
          <p:cNvPr id="3" name="Text Placeholder 2">
            <a:extLst>
              <a:ext uri="{FF2B5EF4-FFF2-40B4-BE49-F238E27FC236}">
                <a16:creationId xmlns:a16="http://schemas.microsoft.com/office/drawing/2014/main" id="{1BC7A0B3-A35C-2443-7BD0-3A8ADF431165}"/>
              </a:ext>
            </a:extLst>
          </p:cNvPr>
          <p:cNvSpPr>
            <a:spLocks noGrp="1"/>
          </p:cNvSpPr>
          <p:nvPr>
            <p:ph type="body" idx="1"/>
          </p:nvPr>
        </p:nvSpPr>
        <p:spPr/>
        <p:txBody>
          <a:bodyPr/>
          <a:lstStyle/>
          <a:p>
            <a:r>
              <a:rPr lang="en-US" dirty="0"/>
              <a:t>Preparing the data for use</a:t>
            </a:r>
          </a:p>
        </p:txBody>
      </p:sp>
    </p:spTree>
    <p:extLst>
      <p:ext uri="{BB962C8B-B14F-4D97-AF65-F5344CB8AC3E}">
        <p14:creationId xmlns:p14="http://schemas.microsoft.com/office/powerpoint/2010/main" val="3533627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to Clean Data</a:t>
            </a:r>
            <a:endParaRPr dirty="0"/>
          </a:p>
        </p:txBody>
      </p:sp>
      <p:sp>
        <p:nvSpPr>
          <p:cNvPr id="3" name="Content Placeholder 2"/>
          <p:cNvSpPr>
            <a:spLocks noGrp="1"/>
          </p:cNvSpPr>
          <p:nvPr>
            <p:ph sz="half" idx="1"/>
          </p:nvPr>
        </p:nvSpPr>
        <p:spPr>
          <a:xfrm>
            <a:off x="1066800" y="1825625"/>
            <a:ext cx="4343400" cy="4270375"/>
          </a:xfrm>
        </p:spPr>
        <p:txBody>
          <a:bodyPr/>
          <a:lstStyle/>
          <a:p>
            <a:r>
              <a:rPr lang="en-US" dirty="0"/>
              <a:t>The data was assessed, and 0 was deemed an acceptable replacement for nulls. It can be assumed that the nulls represented accounts less than three months old. </a:t>
            </a:r>
          </a:p>
          <a:p>
            <a:r>
              <a:rPr lang="en-US" dirty="0"/>
              <a:t>Two columns of the data could be simplified to numbers by removing the characters preceding the numbers. These characters were identical throughout the columns, with only the numbers indicating differences. </a:t>
            </a:r>
            <a:endParaRPr dirty="0"/>
          </a:p>
        </p:txBody>
      </p:sp>
      <p:pic>
        <p:nvPicPr>
          <p:cNvPr id="8" name="Content Placeholder 7">
            <a:extLst>
              <a:ext uri="{FF2B5EF4-FFF2-40B4-BE49-F238E27FC236}">
                <a16:creationId xmlns:a16="http://schemas.microsoft.com/office/drawing/2014/main" id="{5A395A4E-8FDF-96F4-4EBC-B0928518A3D9}"/>
              </a:ext>
            </a:extLst>
          </p:cNvPr>
          <p:cNvPicPr>
            <a:picLocks noGrp="1" noChangeAspect="1"/>
          </p:cNvPicPr>
          <p:nvPr>
            <p:ph sz="half" idx="2"/>
          </p:nvPr>
        </p:nvPicPr>
        <p:blipFill>
          <a:blip r:embed="rId2"/>
          <a:stretch>
            <a:fillRect/>
          </a:stretch>
        </p:blipFill>
        <p:spPr>
          <a:xfrm>
            <a:off x="7696200" y="1825625"/>
            <a:ext cx="1886213" cy="638264"/>
          </a:xfrm>
        </p:spPr>
      </p:pic>
      <p:pic>
        <p:nvPicPr>
          <p:cNvPr id="10" name="Picture 9">
            <a:extLst>
              <a:ext uri="{FF2B5EF4-FFF2-40B4-BE49-F238E27FC236}">
                <a16:creationId xmlns:a16="http://schemas.microsoft.com/office/drawing/2014/main" id="{465CF804-5072-FA8E-EBFB-5C3AC0FE2DF8}"/>
              </a:ext>
            </a:extLst>
          </p:cNvPr>
          <p:cNvPicPr>
            <a:picLocks noChangeAspect="1"/>
          </p:cNvPicPr>
          <p:nvPr/>
        </p:nvPicPr>
        <p:blipFill>
          <a:blip r:embed="rId3"/>
          <a:stretch>
            <a:fillRect/>
          </a:stretch>
        </p:blipFill>
        <p:spPr>
          <a:xfrm>
            <a:off x="5638800" y="3429000"/>
            <a:ext cx="6406427" cy="1117512"/>
          </a:xfrm>
          <a:prstGeom prst="rect">
            <a:avLst/>
          </a:prstGeom>
        </p:spPr>
      </p:pic>
    </p:spTree>
    <p:extLst>
      <p:ext uri="{BB962C8B-B14F-4D97-AF65-F5344CB8AC3E}">
        <p14:creationId xmlns:p14="http://schemas.microsoft.com/office/powerpoint/2010/main" val="4145261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65A2D-C784-2079-435F-5EF51872839B}"/>
              </a:ext>
            </a:extLst>
          </p:cNvPr>
          <p:cNvSpPr>
            <a:spLocks noGrp="1"/>
          </p:cNvSpPr>
          <p:nvPr>
            <p:ph type="title"/>
          </p:nvPr>
        </p:nvSpPr>
        <p:spPr/>
        <p:txBody>
          <a:bodyPr/>
          <a:lstStyle/>
          <a:p>
            <a:r>
              <a:rPr lang="en-US" dirty="0"/>
              <a:t>Continuing to Clean Data</a:t>
            </a:r>
          </a:p>
        </p:txBody>
      </p:sp>
      <p:sp>
        <p:nvSpPr>
          <p:cNvPr id="3" name="Content Placeholder 2">
            <a:extLst>
              <a:ext uri="{FF2B5EF4-FFF2-40B4-BE49-F238E27FC236}">
                <a16:creationId xmlns:a16="http://schemas.microsoft.com/office/drawing/2014/main" id="{91CB83CC-6300-0432-6EA0-59F553C7DB23}"/>
              </a:ext>
            </a:extLst>
          </p:cNvPr>
          <p:cNvSpPr>
            <a:spLocks noGrp="1"/>
          </p:cNvSpPr>
          <p:nvPr>
            <p:ph idx="1"/>
          </p:nvPr>
        </p:nvSpPr>
        <p:spPr>
          <a:xfrm>
            <a:off x="1524000" y="4114800"/>
            <a:ext cx="9144000" cy="2133600"/>
          </a:xfrm>
        </p:spPr>
        <p:txBody>
          <a:bodyPr>
            <a:noAutofit/>
          </a:bodyPr>
          <a:lstStyle/>
          <a:p>
            <a:r>
              <a:rPr lang="en-US" dirty="0"/>
              <a:t>The last two columns, still containing strings, were </a:t>
            </a:r>
            <a:r>
              <a:rPr lang="en-US" dirty="0" err="1"/>
              <a:t>CustomerSegment</a:t>
            </a:r>
            <a:r>
              <a:rPr lang="en-US" dirty="0"/>
              <a:t> and GENDER. These columns required different changes but with similar coding. For </a:t>
            </a:r>
            <a:r>
              <a:rPr lang="en-US" dirty="0" err="1"/>
              <a:t>CustomerSegment</a:t>
            </a:r>
            <a:r>
              <a:rPr lang="en-US" dirty="0"/>
              <a:t>, the only non-numerical entry was NONE, replaced by 0, which was unused in that column. GENDER was smoothly changed to a binary with male, represented by M, equaling 0, and female, represented by F, equaling 1. An additional line of code was entered to ensure the two columns were identified as containing numeric data types. </a:t>
            </a:r>
          </a:p>
        </p:txBody>
      </p:sp>
      <p:pic>
        <p:nvPicPr>
          <p:cNvPr id="8" name="Picture 7">
            <a:extLst>
              <a:ext uri="{FF2B5EF4-FFF2-40B4-BE49-F238E27FC236}">
                <a16:creationId xmlns:a16="http://schemas.microsoft.com/office/drawing/2014/main" id="{A8550475-B57E-B5F4-184F-9B9E9B1F1403}"/>
              </a:ext>
            </a:extLst>
          </p:cNvPr>
          <p:cNvPicPr>
            <a:picLocks noChangeAspect="1"/>
          </p:cNvPicPr>
          <p:nvPr/>
        </p:nvPicPr>
        <p:blipFill>
          <a:blip r:embed="rId2"/>
          <a:stretch>
            <a:fillRect/>
          </a:stretch>
        </p:blipFill>
        <p:spPr>
          <a:xfrm>
            <a:off x="820155" y="2204474"/>
            <a:ext cx="10551690" cy="1713850"/>
          </a:xfrm>
          <a:prstGeom prst="rect">
            <a:avLst/>
          </a:prstGeom>
        </p:spPr>
      </p:pic>
    </p:spTree>
    <p:extLst>
      <p:ext uri="{BB962C8B-B14F-4D97-AF65-F5344CB8AC3E}">
        <p14:creationId xmlns:p14="http://schemas.microsoft.com/office/powerpoint/2010/main" val="3698330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B33FF-CD9F-383C-A89C-479461130D63}"/>
              </a:ext>
            </a:extLst>
          </p:cNvPr>
          <p:cNvSpPr>
            <a:spLocks noGrp="1"/>
          </p:cNvSpPr>
          <p:nvPr>
            <p:ph type="title"/>
          </p:nvPr>
        </p:nvSpPr>
        <p:spPr/>
        <p:txBody>
          <a:bodyPr/>
          <a:lstStyle/>
          <a:p>
            <a:r>
              <a:rPr lang="en-US" dirty="0"/>
              <a:t>Teaching Method</a:t>
            </a:r>
          </a:p>
        </p:txBody>
      </p:sp>
      <p:sp>
        <p:nvSpPr>
          <p:cNvPr id="3" name="Text Placeholder 2">
            <a:extLst>
              <a:ext uri="{FF2B5EF4-FFF2-40B4-BE49-F238E27FC236}">
                <a16:creationId xmlns:a16="http://schemas.microsoft.com/office/drawing/2014/main" id="{EF9F8438-8B36-D795-9A22-398F1DA8D018}"/>
              </a:ext>
            </a:extLst>
          </p:cNvPr>
          <p:cNvSpPr>
            <a:spLocks noGrp="1"/>
          </p:cNvSpPr>
          <p:nvPr>
            <p:ph type="body" idx="1"/>
          </p:nvPr>
        </p:nvSpPr>
        <p:spPr/>
        <p:txBody>
          <a:bodyPr/>
          <a:lstStyle/>
          <a:p>
            <a:r>
              <a:rPr lang="en-US" dirty="0"/>
              <a:t>How to ensure the machine learns</a:t>
            </a:r>
          </a:p>
        </p:txBody>
      </p:sp>
    </p:spTree>
    <p:extLst>
      <p:ext uri="{BB962C8B-B14F-4D97-AF65-F5344CB8AC3E}">
        <p14:creationId xmlns:p14="http://schemas.microsoft.com/office/powerpoint/2010/main" val="1721421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02EAD-2313-B954-F760-47EA459C73FB}"/>
              </a:ext>
            </a:extLst>
          </p:cNvPr>
          <p:cNvSpPr>
            <a:spLocks noGrp="1"/>
          </p:cNvSpPr>
          <p:nvPr>
            <p:ph type="title"/>
          </p:nvPr>
        </p:nvSpPr>
        <p:spPr>
          <a:xfrm>
            <a:off x="1524000" y="457200"/>
            <a:ext cx="9144000" cy="1143000"/>
          </a:xfrm>
        </p:spPr>
        <p:txBody>
          <a:bodyPr anchor="b">
            <a:normAutofit/>
          </a:bodyPr>
          <a:lstStyle/>
          <a:p>
            <a:r>
              <a:rPr lang="en-US" dirty="0"/>
              <a:t>Machine Learning Method</a:t>
            </a:r>
          </a:p>
        </p:txBody>
      </p:sp>
      <p:pic>
        <p:nvPicPr>
          <p:cNvPr id="6" name="Content Placeholder 5" descr="A screen shot of a computer&#10;&#10;Description automatically generated with medium confidence">
            <a:extLst>
              <a:ext uri="{FF2B5EF4-FFF2-40B4-BE49-F238E27FC236}">
                <a16:creationId xmlns:a16="http://schemas.microsoft.com/office/drawing/2014/main" id="{D5924941-4279-041D-267E-05553509DC9F}"/>
              </a:ext>
            </a:extLst>
          </p:cNvPr>
          <p:cNvPicPr>
            <a:picLocks noGrp="1" noChangeAspect="1"/>
          </p:cNvPicPr>
          <p:nvPr>
            <p:ph sz="half" idx="1"/>
          </p:nvPr>
        </p:nvPicPr>
        <p:blipFill>
          <a:blip r:embed="rId2"/>
          <a:stretch>
            <a:fillRect/>
          </a:stretch>
        </p:blipFill>
        <p:spPr>
          <a:xfrm>
            <a:off x="2017119" y="3197224"/>
            <a:ext cx="3137452" cy="3393223"/>
          </a:xfrm>
          <a:noFill/>
        </p:spPr>
      </p:pic>
      <p:sp>
        <p:nvSpPr>
          <p:cNvPr id="3" name="Content Placeholder 2">
            <a:extLst>
              <a:ext uri="{FF2B5EF4-FFF2-40B4-BE49-F238E27FC236}">
                <a16:creationId xmlns:a16="http://schemas.microsoft.com/office/drawing/2014/main" id="{5C8E79B1-387C-78A9-2350-13E1BFBAE4BF}"/>
              </a:ext>
            </a:extLst>
          </p:cNvPr>
          <p:cNvSpPr>
            <a:spLocks noGrp="1"/>
          </p:cNvSpPr>
          <p:nvPr>
            <p:ph sz="half" idx="2"/>
          </p:nvPr>
        </p:nvSpPr>
        <p:spPr>
          <a:xfrm>
            <a:off x="6324600" y="1825625"/>
            <a:ext cx="4343400" cy="4270375"/>
          </a:xfrm>
        </p:spPr>
        <p:txBody>
          <a:bodyPr>
            <a:normAutofit/>
          </a:bodyPr>
          <a:lstStyle/>
          <a:p>
            <a:r>
              <a:rPr lang="en-US" dirty="0"/>
              <a:t>As one who is relatively new to coding learning models, the more familiar sklearn packages were chosen to obtain the prediction model. </a:t>
            </a:r>
          </a:p>
          <a:p>
            <a:r>
              <a:rPr lang="en-US" dirty="0"/>
              <a:t>A total of 16 independent variables were selected to assist in predicting a possibility of a call, with identified results depicted in the </a:t>
            </a:r>
            <a:r>
              <a:rPr lang="en-US" dirty="0" err="1"/>
              <a:t>Call_Flag</a:t>
            </a:r>
            <a:r>
              <a:rPr lang="en-US" dirty="0"/>
              <a:t> column. </a:t>
            </a:r>
          </a:p>
        </p:txBody>
      </p:sp>
      <p:pic>
        <p:nvPicPr>
          <p:cNvPr id="8" name="Picture 7">
            <a:extLst>
              <a:ext uri="{FF2B5EF4-FFF2-40B4-BE49-F238E27FC236}">
                <a16:creationId xmlns:a16="http://schemas.microsoft.com/office/drawing/2014/main" id="{F8074293-2B63-6AE6-1B0C-F38B1CF43FDA}"/>
              </a:ext>
            </a:extLst>
          </p:cNvPr>
          <p:cNvPicPr>
            <a:picLocks noChangeAspect="1"/>
          </p:cNvPicPr>
          <p:nvPr/>
        </p:nvPicPr>
        <p:blipFill>
          <a:blip r:embed="rId3"/>
          <a:stretch>
            <a:fillRect/>
          </a:stretch>
        </p:blipFill>
        <p:spPr>
          <a:xfrm>
            <a:off x="1304289" y="1874764"/>
            <a:ext cx="4563112" cy="1047896"/>
          </a:xfrm>
          <a:prstGeom prst="rect">
            <a:avLst/>
          </a:prstGeom>
        </p:spPr>
      </p:pic>
    </p:spTree>
    <p:extLst>
      <p:ext uri="{BB962C8B-B14F-4D97-AF65-F5344CB8AC3E}">
        <p14:creationId xmlns:p14="http://schemas.microsoft.com/office/powerpoint/2010/main" val="3220554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B25F2-F1AB-781F-B76A-55ADB0AA0948}"/>
              </a:ext>
            </a:extLst>
          </p:cNvPr>
          <p:cNvSpPr>
            <a:spLocks noGrp="1"/>
          </p:cNvSpPr>
          <p:nvPr>
            <p:ph type="title"/>
          </p:nvPr>
        </p:nvSpPr>
        <p:spPr>
          <a:xfrm>
            <a:off x="609600" y="1600200"/>
            <a:ext cx="3122613" cy="1828800"/>
          </a:xfrm>
        </p:spPr>
        <p:txBody>
          <a:bodyPr anchor="b">
            <a:normAutofit/>
          </a:bodyPr>
          <a:lstStyle/>
          <a:p>
            <a:r>
              <a:rPr lang="en-US" dirty="0"/>
              <a:t>Further Machine Learning</a:t>
            </a:r>
          </a:p>
        </p:txBody>
      </p:sp>
      <p:pic>
        <p:nvPicPr>
          <p:cNvPr id="6" name="Content Placeholder 5">
            <a:extLst>
              <a:ext uri="{FF2B5EF4-FFF2-40B4-BE49-F238E27FC236}">
                <a16:creationId xmlns:a16="http://schemas.microsoft.com/office/drawing/2014/main" id="{2E8E5352-77BB-90DB-649D-246589EF5476}"/>
              </a:ext>
            </a:extLst>
          </p:cNvPr>
          <p:cNvPicPr>
            <a:picLocks noGrp="1" noChangeAspect="1"/>
          </p:cNvPicPr>
          <p:nvPr>
            <p:ph idx="1"/>
          </p:nvPr>
        </p:nvPicPr>
        <p:blipFill>
          <a:blip r:embed="rId2"/>
          <a:stretch>
            <a:fillRect/>
          </a:stretch>
        </p:blipFill>
        <p:spPr>
          <a:xfrm>
            <a:off x="5181600" y="2667000"/>
            <a:ext cx="6400800" cy="1824228"/>
          </a:xfrm>
          <a:noFill/>
        </p:spPr>
      </p:pic>
      <p:sp>
        <p:nvSpPr>
          <p:cNvPr id="3" name="Content Placeholder 2">
            <a:extLst>
              <a:ext uri="{FF2B5EF4-FFF2-40B4-BE49-F238E27FC236}">
                <a16:creationId xmlns:a16="http://schemas.microsoft.com/office/drawing/2014/main" id="{CB87A3CC-1350-9216-B8F2-7F411ECC4DB8}"/>
              </a:ext>
            </a:extLst>
          </p:cNvPr>
          <p:cNvSpPr>
            <a:spLocks noGrp="1"/>
          </p:cNvSpPr>
          <p:nvPr>
            <p:ph type="body" sz="half" idx="2"/>
          </p:nvPr>
        </p:nvSpPr>
        <p:spPr>
          <a:xfrm>
            <a:off x="609600" y="3579114"/>
            <a:ext cx="3657600" cy="1824228"/>
          </a:xfrm>
        </p:spPr>
        <p:txBody>
          <a:bodyPr>
            <a:normAutofit/>
          </a:bodyPr>
          <a:lstStyle/>
          <a:p>
            <a:pPr>
              <a:spcAft>
                <a:spcPts val="600"/>
              </a:spcAft>
            </a:pPr>
            <a:r>
              <a:rPr lang="en-US" sz="2000" dirty="0"/>
              <a:t>The primary bulk of the learning was performed using logistic regression from sklearn with a randomized test size of 20%. </a:t>
            </a:r>
          </a:p>
        </p:txBody>
      </p:sp>
    </p:spTree>
    <p:extLst>
      <p:ext uri="{BB962C8B-B14F-4D97-AF65-F5344CB8AC3E}">
        <p14:creationId xmlns:p14="http://schemas.microsoft.com/office/powerpoint/2010/main" val="3675550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46C74-9A38-6E91-4F78-0C56BFBA27E6}"/>
              </a:ext>
            </a:extLst>
          </p:cNvPr>
          <p:cNvSpPr>
            <a:spLocks noGrp="1"/>
          </p:cNvSpPr>
          <p:nvPr>
            <p:ph type="title"/>
          </p:nvPr>
        </p:nvSpPr>
        <p:spPr/>
        <p:txBody>
          <a:bodyPr/>
          <a:lstStyle/>
          <a:p>
            <a:r>
              <a:rPr lang="en-US" dirty="0"/>
              <a:t>Evaluation</a:t>
            </a:r>
          </a:p>
        </p:txBody>
      </p:sp>
      <p:sp>
        <p:nvSpPr>
          <p:cNvPr id="3" name="Text Placeholder 2">
            <a:extLst>
              <a:ext uri="{FF2B5EF4-FFF2-40B4-BE49-F238E27FC236}">
                <a16:creationId xmlns:a16="http://schemas.microsoft.com/office/drawing/2014/main" id="{7F71FA13-5DA8-5D2A-D983-CCF045AA0C3C}"/>
              </a:ext>
            </a:extLst>
          </p:cNvPr>
          <p:cNvSpPr>
            <a:spLocks noGrp="1"/>
          </p:cNvSpPr>
          <p:nvPr>
            <p:ph type="body" idx="1"/>
          </p:nvPr>
        </p:nvSpPr>
        <p:spPr/>
        <p:txBody>
          <a:bodyPr/>
          <a:lstStyle/>
          <a:p>
            <a:r>
              <a:rPr lang="en-US" dirty="0"/>
              <a:t>How functional is the model</a:t>
            </a:r>
          </a:p>
        </p:txBody>
      </p:sp>
    </p:spTree>
    <p:extLst>
      <p:ext uri="{BB962C8B-B14F-4D97-AF65-F5344CB8AC3E}">
        <p14:creationId xmlns:p14="http://schemas.microsoft.com/office/powerpoint/2010/main" val="1324630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58100" y="1066800"/>
            <a:ext cx="3659186" cy="1828800"/>
          </a:xfrm>
        </p:spPr>
        <p:txBody>
          <a:bodyPr/>
          <a:lstStyle/>
          <a:p>
            <a:r>
              <a:rPr lang="en-US" dirty="0"/>
              <a:t>ML Report Card</a:t>
            </a:r>
            <a:endParaRPr dirty="0"/>
          </a:p>
        </p:txBody>
      </p:sp>
      <p:pic>
        <p:nvPicPr>
          <p:cNvPr id="6" name="Content Placeholder 5">
            <a:extLst>
              <a:ext uri="{FF2B5EF4-FFF2-40B4-BE49-F238E27FC236}">
                <a16:creationId xmlns:a16="http://schemas.microsoft.com/office/drawing/2014/main" id="{D9EA3E98-D03B-011A-69E1-A7B2EB350D80}"/>
              </a:ext>
            </a:extLst>
          </p:cNvPr>
          <p:cNvPicPr>
            <a:picLocks noGrp="1" noChangeAspect="1"/>
          </p:cNvPicPr>
          <p:nvPr>
            <p:ph idx="1"/>
          </p:nvPr>
        </p:nvPicPr>
        <p:blipFill>
          <a:blip r:embed="rId2"/>
          <a:stretch>
            <a:fillRect/>
          </a:stretch>
        </p:blipFill>
        <p:spPr>
          <a:xfrm>
            <a:off x="663899" y="1614399"/>
            <a:ext cx="6044121" cy="3629202"/>
          </a:xfrm>
        </p:spPr>
      </p:pic>
      <p:sp>
        <p:nvSpPr>
          <p:cNvPr id="4" name="Text Placeholder 3"/>
          <p:cNvSpPr>
            <a:spLocks noGrp="1"/>
          </p:cNvSpPr>
          <p:nvPr>
            <p:ph type="body" sz="half" idx="2"/>
          </p:nvPr>
        </p:nvSpPr>
        <p:spPr>
          <a:xfrm>
            <a:off x="7543800" y="3429000"/>
            <a:ext cx="3887787" cy="2133600"/>
          </a:xfrm>
        </p:spPr>
        <p:txBody>
          <a:bodyPr>
            <a:normAutofit/>
          </a:bodyPr>
          <a:lstStyle/>
          <a:p>
            <a:r>
              <a:rPr lang="en-US" sz="2000" dirty="0"/>
              <a:t>An f1-score of 96% accuracy is acceptable for a beginner's attempt at creating a prediction model but would require more testing to consider it deliverable. </a:t>
            </a:r>
            <a:endParaRPr sz="2000" dirty="0"/>
          </a:p>
        </p:txBody>
      </p:sp>
    </p:spTree>
    <p:extLst>
      <p:ext uri="{BB962C8B-B14F-4D97-AF65-F5344CB8AC3E}">
        <p14:creationId xmlns:p14="http://schemas.microsoft.com/office/powerpoint/2010/main" val="3232560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Take Away</a:t>
            </a:r>
            <a:endParaRPr dirty="0"/>
          </a:p>
        </p:txBody>
      </p:sp>
    </p:spTree>
    <p:extLst>
      <p:ext uri="{BB962C8B-B14F-4D97-AF65-F5344CB8AC3E}">
        <p14:creationId xmlns:p14="http://schemas.microsoft.com/office/powerpoint/2010/main" val="3444435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F752-6B3C-99C4-4626-3ECE68E6C65F}"/>
              </a:ext>
            </a:extLst>
          </p:cNvPr>
          <p:cNvSpPr>
            <a:spLocks noGrp="1"/>
          </p:cNvSpPr>
          <p:nvPr>
            <p:ph type="title"/>
          </p:nvPr>
        </p:nvSpPr>
        <p:spPr/>
        <p:txBody>
          <a:bodyPr/>
          <a:lstStyle/>
          <a:p>
            <a:r>
              <a:rPr lang="en-US" dirty="0"/>
              <a:t>Signing Off</a:t>
            </a:r>
          </a:p>
        </p:txBody>
      </p:sp>
      <p:sp>
        <p:nvSpPr>
          <p:cNvPr id="3" name="Content Placeholder 2">
            <a:extLst>
              <a:ext uri="{FF2B5EF4-FFF2-40B4-BE49-F238E27FC236}">
                <a16:creationId xmlns:a16="http://schemas.microsoft.com/office/drawing/2014/main" id="{EF744E54-5110-33F1-5AD1-910E1D84B6B8}"/>
              </a:ext>
            </a:extLst>
          </p:cNvPr>
          <p:cNvSpPr>
            <a:spLocks noGrp="1"/>
          </p:cNvSpPr>
          <p:nvPr>
            <p:ph idx="1"/>
          </p:nvPr>
        </p:nvSpPr>
        <p:spPr/>
        <p:txBody>
          <a:bodyPr/>
          <a:lstStyle/>
          <a:p>
            <a:r>
              <a:rPr lang="en-US" dirty="0"/>
              <a:t>Coding is impressive, and knowing what I can achieve with it is inspiring. I spent so much time researching what could be done that I am excited to see more. </a:t>
            </a:r>
          </a:p>
          <a:p>
            <a:r>
              <a:rPr lang="en-US" dirty="0"/>
              <a:t>This project still needs to be completed as I once again attempted more than I could handle by trying the extra undergrad credit. </a:t>
            </a:r>
            <a:r>
              <a:rPr lang="en-US"/>
              <a:t>I hope to have time in the future to figure it out!</a:t>
            </a:r>
            <a:endParaRPr lang="en-US" dirty="0"/>
          </a:p>
          <a:p>
            <a:endParaRPr lang="en-US" dirty="0"/>
          </a:p>
        </p:txBody>
      </p:sp>
    </p:spTree>
    <p:extLst>
      <p:ext uri="{BB962C8B-B14F-4D97-AF65-F5344CB8AC3E}">
        <p14:creationId xmlns:p14="http://schemas.microsoft.com/office/powerpoint/2010/main" val="1808592233"/>
      </p:ext>
    </p:extLst>
  </p:cSld>
  <p:clrMapOvr>
    <a:masterClrMapping/>
  </p:clrMapOvr>
</p:sld>
</file>

<file path=ppt/theme/theme1.xml><?xml version="1.0" encoding="utf-8"?>
<a:theme xmlns:a="http://schemas.openxmlformats.org/drawingml/2006/main" name="Tech Computer 16x9">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901026.potx" id="{FD85E87A-7813-4F67-9E59-69B5487A1910}" vid="{BDF94C36-3ACF-4CF1-939F-F4211E6D666F}"/>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technology circuit board design presentation (widescreen)</Template>
  <TotalTime>322</TotalTime>
  <Words>473</Words>
  <Application>Microsoft Office PowerPoint</Application>
  <PresentationFormat>Widescreen</PresentationFormat>
  <Paragraphs>35</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Candara</vt:lpstr>
      <vt:lpstr>Consolas</vt:lpstr>
      <vt:lpstr>Tech Computer 16x9</vt:lpstr>
      <vt:lpstr>INF428 Final Project</vt:lpstr>
      <vt:lpstr>Service Payment Call Predictor</vt:lpstr>
      <vt:lpstr>The Assignment</vt:lpstr>
      <vt:lpstr>Project Call Predictor</vt:lpstr>
      <vt:lpstr>Data Cleaning</vt:lpstr>
      <vt:lpstr>Steps to Clean Data</vt:lpstr>
      <vt:lpstr>Continuing to Clean Data</vt:lpstr>
      <vt:lpstr>Teaching Method</vt:lpstr>
      <vt:lpstr>Machine Learning Method</vt:lpstr>
      <vt:lpstr>Further Machine Learning</vt:lpstr>
      <vt:lpstr>Evaluation</vt:lpstr>
      <vt:lpstr>ML Report Card</vt:lpstr>
      <vt:lpstr>Take Away</vt:lpstr>
      <vt:lpstr>Signing Off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INF428 Final Project</dc:title>
  <dc:creator>Catherine Duffield</dc:creator>
  <cp:lastModifiedBy>Catherine Duffield</cp:lastModifiedBy>
  <cp:revision>1</cp:revision>
  <dcterms:created xsi:type="dcterms:W3CDTF">2023-05-07T22:46:02Z</dcterms:created>
  <dcterms:modified xsi:type="dcterms:W3CDTF">2023-05-08T04:08:47Z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